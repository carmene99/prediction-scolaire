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3" d="100"/>
          <a:sy n="63" d="100"/>
        </p:scale>
        <p:origin x="320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274A9-1892-4FE7-9261-6CA65A230B9A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66580-CEF2-45CD-9416-4275D5583C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59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66580-CEF2-45CD-9416-4275D5583C4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370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249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55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34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2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78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79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10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39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4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7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2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Prédiction de la Réussite Scolaire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dirty="0"/>
              <a:t>ProJet de Machine Learning</a:t>
            </a:r>
          </a:p>
          <a:p>
            <a:r>
              <a:rPr lang="fr-FR" dirty="0"/>
              <a:t>Présenté par: </a:t>
            </a:r>
          </a:p>
          <a:p>
            <a:r>
              <a:rPr lang="fr-FR" b="1" i="1" dirty="0">
                <a:latin typeface="Bahnschrift" panose="020B0502040204020203" pitchFamily="34" charset="0"/>
              </a:rPr>
              <a:t>-TCHAKOUNTE FRANCK ERIC </a:t>
            </a:r>
          </a:p>
          <a:p>
            <a:r>
              <a:rPr lang="fr-FR" b="1" i="1" dirty="0">
                <a:latin typeface="Bahnschrift" panose="020B0502040204020203" pitchFamily="34" charset="0"/>
              </a:rPr>
              <a:t>-KIENOU CARMENE </a:t>
            </a:r>
          </a:p>
          <a:p>
            <a:r>
              <a:rPr lang="fr-FR" b="1" i="1" dirty="0">
                <a:latin typeface="Bahnschrift" panose="020B0502040204020203" pitchFamily="34" charset="0"/>
              </a:rPr>
              <a:t>-FUHARA </a:t>
            </a:r>
            <a:endParaRPr b="1" i="1" dirty="0">
              <a:latin typeface="Bahnschrift" panose="020B05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9E1CE1-D8D8-47B7-29EF-6C2AB2BE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953000"/>
            <a:ext cx="4572000" cy="190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55212A-EADF-ABA2-E373-CC01532A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65B612-DA2F-98EF-F756-ACD2083C0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fr-FR" sz="2000" dirty="0"/>
              <a:t>Comprendre et exploiter un jeu de données éducatif</a:t>
            </a:r>
          </a:p>
          <a:p>
            <a:pPr marL="342900" indent="-342900">
              <a:buAutoNum type="arabicPeriod"/>
            </a:pPr>
            <a:r>
              <a:rPr lang="fr-FR" sz="2000" dirty="0"/>
              <a:t>Appliquer des algorithmes de Machine Learning</a:t>
            </a:r>
          </a:p>
          <a:p>
            <a:pPr marL="342900" indent="-342900">
              <a:buAutoNum type="arabicPeriod"/>
            </a:pPr>
            <a:r>
              <a:rPr lang="fr-FR" sz="2000" dirty="0"/>
              <a:t>Évaluer la performance des modèles</a:t>
            </a:r>
          </a:p>
          <a:p>
            <a:pPr marL="342900" indent="-342900">
              <a:buAutoNum type="arabicPeriod"/>
            </a:pPr>
            <a:r>
              <a:rPr lang="fr-FR" sz="2000" dirty="0"/>
              <a:t>Extraire des insights utiles</a:t>
            </a:r>
          </a:p>
          <a:p>
            <a:pPr marL="342900" indent="-342900">
              <a:buAutoNum type="arabicPeriod"/>
            </a:pPr>
            <a:r>
              <a:rPr lang="fr-FR" sz="2000" dirty="0"/>
              <a:t>Mettre en pratique un pipeline complet de Data Science</a:t>
            </a:r>
          </a:p>
          <a:p>
            <a:pPr marL="342900" indent="-342900">
              <a:buAutoNum type="arabicPeriod"/>
            </a:pPr>
            <a:r>
              <a:rPr lang="fr-FR" sz="2000" dirty="0"/>
              <a:t>Réfléchir aux applications </a:t>
            </a:r>
            <a:r>
              <a:rPr lang="fr-FR" dirty="0"/>
              <a:t>réelles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A55DD2D-9A34-D2DE-48A4-D1874C8B8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353" y="1"/>
            <a:ext cx="2548647" cy="176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87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Objectif : prédire l’échec ou la réussite scolaire des élèves à partir de données éducatives.</a:t>
            </a:r>
          </a:p>
          <a:p>
            <a:endParaRPr/>
          </a:p>
          <a:p>
            <a:r>
              <a:t>Méthode : utilisation d’algorithmes de machine learning sur un dataset contenant plusieurs caractéristiques.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Les données </a:t>
            </a:r>
            <a:r>
              <a:rPr dirty="0" err="1"/>
              <a:t>incluent</a:t>
            </a:r>
            <a:r>
              <a:rPr dirty="0"/>
              <a:t> des </a:t>
            </a:r>
            <a:r>
              <a:rPr dirty="0" err="1"/>
              <a:t>informations</a:t>
            </a:r>
            <a:r>
              <a:rPr dirty="0"/>
              <a:t> </a:t>
            </a:r>
            <a:r>
              <a:rPr dirty="0" err="1"/>
              <a:t>personnelles</a:t>
            </a:r>
            <a:r>
              <a:rPr dirty="0"/>
              <a:t> et </a:t>
            </a:r>
            <a:r>
              <a:rPr dirty="0" err="1"/>
              <a:t>académiques</a:t>
            </a:r>
            <a:r>
              <a:rPr dirty="0"/>
              <a:t> :</a:t>
            </a:r>
          </a:p>
          <a:p>
            <a:r>
              <a:rPr dirty="0"/>
              <a:t>- Sexe, </a:t>
            </a:r>
            <a:r>
              <a:rPr dirty="0" err="1"/>
              <a:t>âge</a:t>
            </a:r>
            <a:endParaRPr dirty="0"/>
          </a:p>
          <a:p>
            <a:r>
              <a:rPr dirty="0"/>
              <a:t>- Études </a:t>
            </a:r>
            <a:r>
              <a:rPr dirty="0" err="1"/>
              <a:t>antérieures</a:t>
            </a:r>
            <a:endParaRPr dirty="0"/>
          </a:p>
          <a:p>
            <a:r>
              <a:rPr dirty="0"/>
              <a:t>- </a:t>
            </a:r>
            <a:r>
              <a:rPr dirty="0" err="1"/>
              <a:t>Fréquentation</a:t>
            </a:r>
            <a:r>
              <a:rPr dirty="0"/>
              <a:t>, absences</a:t>
            </a:r>
          </a:p>
          <a:p>
            <a:r>
              <a:rPr dirty="0"/>
              <a:t>- Notes </a:t>
            </a:r>
            <a:r>
              <a:rPr dirty="0" err="1"/>
              <a:t>précédentes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Un total de 5000 lignes et 22 colonnes</a:t>
            </a:r>
          </a:p>
          <a:p>
            <a:pPr marL="0" indent="0">
              <a:buNone/>
            </a:pPr>
            <a:r>
              <a:rPr lang="fr-FR" dirty="0"/>
              <a:t>Source: kaggle 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982C5B-8F5A-0A3B-C789-6414C44CD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9" y="2495588"/>
            <a:ext cx="3627121" cy="35578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Prétraitement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Étapes appliquées :</a:t>
            </a:r>
          </a:p>
          <a:p>
            <a:r>
              <a:t>- Nettoyage des données</a:t>
            </a:r>
          </a:p>
          <a:p>
            <a:r>
              <a:t>- Encodage des variables catégorielles</a:t>
            </a:r>
          </a:p>
          <a:p>
            <a:r>
              <a:t>- Normalisation des variables numériques</a:t>
            </a:r>
          </a:p>
          <a:p>
            <a:r>
              <a:t>- Séparation du dataset (train/test)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5E953F9-23B9-B098-F80B-4EE6FBAD6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970" y="0"/>
            <a:ext cx="3035030" cy="2772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 visuelle : histogrammes, corrélation, outliers.</a:t>
            </a:r>
          </a:p>
          <a:p>
            <a:r>
              <a:t>Insights : certaines variables influencent directement la réussite comme les absences ou le temps d’étude.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1AE91D-6D20-DF4F-BDEC-CAA67FA84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146555"/>
            <a:ext cx="9212093" cy="1994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Modèles utilisés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Modèles testés :</a:t>
            </a:r>
          </a:p>
          <a:p>
            <a:r>
              <a:t>- Régression Logistique</a:t>
            </a:r>
          </a:p>
          <a:p>
            <a:r>
              <a:t>- Random Forest</a:t>
            </a:r>
          </a:p>
          <a:p>
            <a:r>
              <a:t>- KNN</a:t>
            </a:r>
          </a:p>
          <a:p>
            <a:r>
              <a:t>- SVM</a:t>
            </a:r>
          </a:p>
          <a:p>
            <a:r>
              <a:t>Choix basé sur les performances et la simplicité d’interprétation.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Métriques : accuracy, F1-score, matrice de confusion.</a:t>
            </a:r>
          </a:p>
          <a:p>
            <a:r>
              <a:t>Analyse comparative pour choisir le meilleur modèle.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15DB98-33E4-06F9-1FAD-5D5E00AB8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910" y="3429000"/>
            <a:ext cx="4494179" cy="1743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Meilleur </a:t>
            </a:r>
            <a:r>
              <a:rPr dirty="0" err="1"/>
              <a:t>modèle</a:t>
            </a:r>
            <a:r>
              <a:rPr dirty="0"/>
              <a:t> : </a:t>
            </a:r>
            <a:r>
              <a:rPr lang="fr-FR" dirty="0" err="1"/>
              <a:t>Random</a:t>
            </a:r>
            <a:r>
              <a:rPr lang="fr-FR" dirty="0"/>
              <a:t> Forest</a:t>
            </a:r>
            <a:endParaRPr dirty="0"/>
          </a:p>
          <a:p>
            <a:r>
              <a:rPr dirty="0"/>
              <a:t>Performances : </a:t>
            </a:r>
            <a:r>
              <a:rPr lang="fr-FR" dirty="0"/>
              <a:t>taux d’</a:t>
            </a:r>
            <a:r>
              <a:rPr lang="fr-FR" dirty="0" err="1"/>
              <a:t>accuracy</a:t>
            </a:r>
            <a:r>
              <a:rPr lang="fr-FR" dirty="0"/>
              <a:t> plus conséquent</a:t>
            </a:r>
            <a:endParaRPr dirty="0"/>
          </a:p>
          <a:p>
            <a:r>
              <a:rPr dirty="0"/>
              <a:t>Variables les plus </a:t>
            </a:r>
            <a:r>
              <a:rPr dirty="0" err="1"/>
              <a:t>importantes</a:t>
            </a:r>
            <a:r>
              <a:rPr dirty="0"/>
              <a:t> :</a:t>
            </a:r>
            <a:r>
              <a:rPr lang="fr-FR" dirty="0"/>
              <a:t> total score selon le modèle </a:t>
            </a:r>
            <a:r>
              <a:rPr lang="fr-FR" dirty="0" err="1"/>
              <a:t>Random</a:t>
            </a:r>
            <a:r>
              <a:rPr lang="fr-FR" dirty="0"/>
              <a:t> Forest</a:t>
            </a: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59DBF1-8F92-70D1-501E-F15823998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0" y="3996080"/>
            <a:ext cx="3216139" cy="20574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C2BC03-440D-43FD-7F4C-B308FF39A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89CAF5-7414-B096-A141-0465F5CAA1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44638" y="2243724"/>
            <a:ext cx="481552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Explorer comment les résultats pourraient aider les établissements scolaires à mieux détecter les élèves en difficulté.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dirty="0"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600" dirty="0">
                <a:latin typeface="Garamond" panose="02020404030301010803" pitchFamily="18" charset="0"/>
              </a:rPr>
              <a:t>Aider les enseignants a revoir l’approche pédagogique avec les élevés en difficultés 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375AD25-B7C7-B984-D71E-158C8D8C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4281830"/>
            <a:ext cx="502920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 du Projet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Certaines</a:t>
            </a:r>
            <a:r>
              <a:rPr dirty="0"/>
              <a:t> variables </a:t>
            </a:r>
            <a:r>
              <a:rPr dirty="0" err="1"/>
              <a:t>importantes</a:t>
            </a:r>
            <a:r>
              <a:rPr dirty="0"/>
              <a:t> non </a:t>
            </a:r>
            <a:r>
              <a:rPr dirty="0" err="1"/>
              <a:t>disponibles</a:t>
            </a:r>
            <a:r>
              <a:rPr dirty="0"/>
              <a:t>.</a:t>
            </a:r>
          </a:p>
          <a:p>
            <a:r>
              <a:rPr dirty="0"/>
              <a:t>Données </a:t>
            </a:r>
            <a:r>
              <a:rPr dirty="0" err="1"/>
              <a:t>parfois</a:t>
            </a:r>
            <a:r>
              <a:rPr dirty="0"/>
              <a:t> </a:t>
            </a:r>
            <a:r>
              <a:rPr dirty="0" err="1"/>
              <a:t>déséquilibrées</a:t>
            </a:r>
            <a:r>
              <a:rPr dirty="0"/>
              <a:t>.</a:t>
            </a:r>
          </a:p>
          <a:p>
            <a:r>
              <a:rPr dirty="0"/>
              <a:t>Pas de </a:t>
            </a:r>
            <a:r>
              <a:rPr dirty="0" err="1"/>
              <a:t>prise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compte</a:t>
            </a:r>
            <a:r>
              <a:rPr dirty="0"/>
              <a:t> de </a:t>
            </a:r>
            <a:r>
              <a:rPr dirty="0" err="1"/>
              <a:t>facteurs</a:t>
            </a:r>
            <a:r>
              <a:rPr dirty="0"/>
              <a:t> externes (</a:t>
            </a:r>
            <a:r>
              <a:rPr dirty="0" err="1"/>
              <a:t>contexte</a:t>
            </a:r>
            <a:r>
              <a:rPr dirty="0"/>
              <a:t> familial, motivation…).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B4A84F-FEDC-73C5-E3C4-DEE48BD6C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362" y="3942081"/>
            <a:ext cx="2835276" cy="21114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concluant sur la faisabilité de la prédiction de la réussite scolaire avec le ML.</a:t>
            </a:r>
          </a:p>
          <a:p>
            <a:r>
              <a:t>Perspectives : améliorer les données, tester d'autres modèles, créer un outil d’aide aux enseignants.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 de votre attention !</a:t>
            </a:r>
            <a:br>
              <a:rPr lang="fr-FR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3" indent="0">
              <a:buNone/>
            </a:pP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226C7E-CFBB-1CED-5A76-00E674779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2015733"/>
            <a:ext cx="6013949" cy="3450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503</TotalTime>
  <Words>345</Words>
  <Application>Microsoft Office PowerPoint</Application>
  <PresentationFormat>Affichage à l'écran (4:3)</PresentationFormat>
  <Paragraphs>62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Bahnschrift</vt:lpstr>
      <vt:lpstr>Calibri</vt:lpstr>
      <vt:lpstr>Garamond</vt:lpstr>
      <vt:lpstr>Gill Sans MT</vt:lpstr>
      <vt:lpstr>Galerie</vt:lpstr>
      <vt:lpstr>Prédiction de la Réussite Scolaire</vt:lpstr>
      <vt:lpstr>Objectifs</vt:lpstr>
      <vt:lpstr>Introduction</vt:lpstr>
      <vt:lpstr>Données</vt:lpstr>
      <vt:lpstr>Prétraitement</vt:lpstr>
      <vt:lpstr>Exploration des Données</vt:lpstr>
      <vt:lpstr>Modèles utilisés</vt:lpstr>
      <vt:lpstr>Évaluation</vt:lpstr>
      <vt:lpstr>Résultats</vt:lpstr>
      <vt:lpstr>Applications</vt:lpstr>
      <vt:lpstr>Limites du Projet</vt:lpstr>
      <vt:lpstr>Conclusion</vt:lpstr>
      <vt:lpstr>Merci de votre attention 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7</cp:revision>
  <dcterms:created xsi:type="dcterms:W3CDTF">2013-01-27T09:14:16Z</dcterms:created>
  <dcterms:modified xsi:type="dcterms:W3CDTF">2025-05-16T08:46:39Z</dcterms:modified>
  <cp:category/>
</cp:coreProperties>
</file>